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16"/>
  </p:notesMasterIdLst>
  <p:sldIdLst>
    <p:sldId id="273" r:id="rId2"/>
    <p:sldId id="256" r:id="rId3"/>
    <p:sldId id="257" r:id="rId4"/>
    <p:sldId id="262" r:id="rId5"/>
    <p:sldId id="260" r:id="rId6"/>
    <p:sldId id="265" r:id="rId7"/>
    <p:sldId id="266" r:id="rId8"/>
    <p:sldId id="267" r:id="rId9"/>
    <p:sldId id="259" r:id="rId10"/>
    <p:sldId id="268" r:id="rId11"/>
    <p:sldId id="269" r:id="rId12"/>
    <p:sldId id="270" r:id="rId13"/>
    <p:sldId id="271" r:id="rId14"/>
    <p:sldId id="27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BB7606-71A0-42F6-8E10-B98E9CB38EBB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5AF311-F47B-440E-87C3-6FFA05E81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5428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AF311-F47B-440E-87C3-6FFA05E81BC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084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E016143-E03C-4CFD-AFDC-14E5BDEA754C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4063-DF36-4330-A365-08DA1FA5B7D6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7C6C-0F39-4D70-8E8D-FE5B9C95FA73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A4AC-08CC-42CE-BD01-C191750A04EC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A723-92A7-435B-B681-F25B092FEFEB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0639-886C-4FCF-9EAB-ABB5DA3F3F4A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0651-31F4-45D2-98AE-A2108F41BC07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3789A-C914-4DB1-8815-80B5EC7335C5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40AA-91A0-436F-8FDB-C0F939DCAE21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3E54A-A8CA-48C1-9504-691B58049D29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6C806-BBF7-471C-9527-881CE2266695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E59FD0C-5451-4CA0-86AF-E70AE3279989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CA387-53BD-57B0-B1A6-2FE8AC0976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7419" y="1150374"/>
            <a:ext cx="11238271" cy="806245"/>
          </a:xfrm>
        </p:spPr>
        <p:txBody>
          <a:bodyPr>
            <a:normAutofit/>
          </a:bodyPr>
          <a:lstStyle/>
          <a:p>
            <a:r>
              <a:rPr lang="en-US" sz="4000" dirty="0"/>
              <a:t>PRESENTED BY :- VAIBHAV KUMAR JHA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3BE2A4-61E7-859B-B452-9866DE6D3F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5575" y="2094271"/>
            <a:ext cx="10827676" cy="4286864"/>
          </a:xfrm>
        </p:spPr>
        <p:txBody>
          <a:bodyPr>
            <a:normAutofit/>
          </a:bodyPr>
          <a:lstStyle/>
          <a:p>
            <a:r>
              <a:rPr lang="en-US" sz="4000" dirty="0"/>
              <a:t>DEPARTMENT :- B.TECH CSE(AI &amp;ML)</a:t>
            </a:r>
          </a:p>
          <a:p>
            <a:r>
              <a:rPr lang="en-US" sz="4000" dirty="0"/>
              <a:t>            PRN :- 250205241005</a:t>
            </a:r>
          </a:p>
          <a:p>
            <a:r>
              <a:rPr lang="en-US" sz="4000" dirty="0"/>
              <a:t>              SANDIP UNIVERSITY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731881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8B699-DD13-DF6A-2DE8-C86E2BC9B7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8413" y="491615"/>
            <a:ext cx="7921458" cy="1425676"/>
          </a:xfrm>
        </p:spPr>
        <p:txBody>
          <a:bodyPr>
            <a:normAutofit/>
          </a:bodyPr>
          <a:lstStyle/>
          <a:p>
            <a:r>
              <a:rPr lang="en-IN" sz="4800" dirty="0"/>
              <a:t>PHISHING AWARENESS TRAINING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3B623B-5D2E-ED16-5B58-45FA0A1969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2722" y="2290917"/>
            <a:ext cx="9687134" cy="3696930"/>
          </a:xfrm>
        </p:spPr>
        <p:txBody>
          <a:bodyPr>
            <a:normAutofit/>
          </a:bodyPr>
          <a:lstStyle/>
          <a:p>
            <a:r>
              <a:rPr lang="en-IN" sz="2400" dirty="0"/>
              <a:t>Title :- Phishing Awareness Training</a:t>
            </a:r>
          </a:p>
          <a:p>
            <a:endParaRPr lang="en-IN" sz="2400" dirty="0"/>
          </a:p>
          <a:p>
            <a:pPr marL="342900" indent="-342900">
              <a:buClr>
                <a:srgbClr val="00B0F0"/>
              </a:buClr>
              <a:buSzPct val="90000"/>
              <a:buFont typeface="Arial" panose="020B0604020202020204" pitchFamily="34" charset="0"/>
              <a:buChar char="•"/>
            </a:pPr>
            <a:r>
              <a:rPr lang="en-IN" sz="2400" dirty="0"/>
              <a:t>Understanding phishing attacks</a:t>
            </a:r>
          </a:p>
          <a:p>
            <a:pPr marL="342900" indent="-342900">
              <a:buClr>
                <a:srgbClr val="00B0F0"/>
              </a:buClr>
              <a:buSzPct val="90000"/>
              <a:buFont typeface="Arial" panose="020B0604020202020204" pitchFamily="34" charset="0"/>
              <a:buChar char="•"/>
            </a:pPr>
            <a:r>
              <a:rPr lang="en-IN" sz="2400" dirty="0"/>
              <a:t>Recognising threats</a:t>
            </a:r>
          </a:p>
          <a:p>
            <a:pPr marL="342900" indent="-342900">
              <a:buClr>
                <a:srgbClr val="00B0F0"/>
              </a:buClr>
              <a:buSzPct val="90000"/>
              <a:buFont typeface="Arial" panose="020B0604020202020204" pitchFamily="34" charset="0"/>
              <a:buChar char="•"/>
            </a:pPr>
            <a:r>
              <a:rPr lang="en-IN" sz="2400" dirty="0"/>
              <a:t>Protecting yourself and your organization</a:t>
            </a:r>
          </a:p>
          <a:p>
            <a:pPr>
              <a:buClr>
                <a:srgbClr val="00B0F0"/>
              </a:buClr>
              <a:buSzPct val="90000"/>
            </a:pPr>
            <a:endParaRPr lang="en-IN" sz="2400" dirty="0"/>
          </a:p>
          <a:p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D9A656-8562-EDF0-2672-4D0FF2252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6916" y="1844086"/>
            <a:ext cx="4470630" cy="3435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77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4EE0C5-97C2-C078-0964-A4C8E587BE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79040" y="111760"/>
            <a:ext cx="7997952" cy="1026160"/>
          </a:xfrm>
        </p:spPr>
        <p:txBody>
          <a:bodyPr/>
          <a:lstStyle/>
          <a:p>
            <a:r>
              <a:rPr lang="en-IN" dirty="0"/>
              <a:t>What is Phishing?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71377FF-CD56-3E68-FF0A-367E16D4A9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2" y="1270000"/>
            <a:ext cx="9418320" cy="5750560"/>
          </a:xfrm>
        </p:spPr>
        <p:txBody>
          <a:bodyPr>
            <a:normAutofit lnSpcReduction="10000"/>
          </a:bodyPr>
          <a:lstStyle/>
          <a:p>
            <a:r>
              <a:rPr lang="en-IN" dirty="0"/>
              <a:t>Phishing is a cyberattack where criminals impersonate trusted individuals or organization to trick people into:</a:t>
            </a:r>
          </a:p>
          <a:p>
            <a:pPr marL="342900" indent="-342900">
              <a:buClr>
                <a:srgbClr val="00B0F0"/>
              </a:buClr>
              <a:buSzPct val="90000"/>
              <a:buFont typeface="Arial" panose="020B0604020202020204" pitchFamily="34" charset="0"/>
              <a:buChar char="•"/>
            </a:pPr>
            <a:r>
              <a:rPr lang="en-IN" dirty="0"/>
              <a:t>Revealing passwords </a:t>
            </a:r>
          </a:p>
          <a:p>
            <a:pPr marL="342900" indent="-342900">
              <a:buClr>
                <a:srgbClr val="00B0F0"/>
              </a:buClr>
              <a:buSzPct val="90000"/>
              <a:buFont typeface="Arial" panose="020B0604020202020204" pitchFamily="34" charset="0"/>
              <a:buChar char="•"/>
            </a:pPr>
            <a:r>
              <a:rPr lang="en-IN" dirty="0"/>
              <a:t>Sharing personal information</a:t>
            </a:r>
          </a:p>
          <a:p>
            <a:pPr marL="342900" indent="-342900">
              <a:buClr>
                <a:srgbClr val="00B0F0"/>
              </a:buClr>
              <a:buSzPct val="90000"/>
              <a:buFont typeface="Arial" panose="020B0604020202020204" pitchFamily="34" charset="0"/>
              <a:buChar char="•"/>
            </a:pPr>
            <a:r>
              <a:rPr lang="en-IN" dirty="0"/>
              <a:t>Sending money</a:t>
            </a:r>
          </a:p>
          <a:p>
            <a:pPr marL="342900" indent="-342900">
              <a:buClr>
                <a:srgbClr val="00B0F0"/>
              </a:buClr>
              <a:buSzPct val="90000"/>
              <a:buFont typeface="Arial" panose="020B0604020202020204" pitchFamily="34" charset="0"/>
              <a:buChar char="•"/>
            </a:pPr>
            <a:r>
              <a:rPr lang="en-IN" dirty="0"/>
              <a:t>Installing malware</a:t>
            </a:r>
          </a:p>
          <a:p>
            <a:pPr>
              <a:buClr>
                <a:srgbClr val="00B0F0"/>
              </a:buClr>
              <a:buSzPct val="90000"/>
            </a:pPr>
            <a:endParaRPr lang="en-IN" dirty="0"/>
          </a:p>
          <a:p>
            <a:pPr marL="342900" indent="-342900">
              <a:buClr>
                <a:srgbClr val="00B0F0"/>
              </a:buClr>
              <a:buSzPct val="110000"/>
              <a:buFont typeface="Wingdings" panose="05000000000000000000" pitchFamily="2" charset="2"/>
              <a:buChar char="Ø"/>
            </a:pPr>
            <a:r>
              <a:rPr lang="en-IN" dirty="0"/>
              <a:t>Common Targets </a:t>
            </a:r>
          </a:p>
          <a:p>
            <a:pPr marL="342900" indent="-342900">
              <a:buClr>
                <a:srgbClr val="00B0F0"/>
              </a:buClr>
              <a:buSzPct val="110000"/>
              <a:buFont typeface="Arial" panose="020B0604020202020204" pitchFamily="34" charset="0"/>
              <a:buChar char="•"/>
            </a:pPr>
            <a:r>
              <a:rPr lang="en-IN" dirty="0"/>
              <a:t>Email accounts</a:t>
            </a:r>
          </a:p>
          <a:p>
            <a:pPr marL="342900" indent="-342900">
              <a:buClr>
                <a:srgbClr val="00B0F0"/>
              </a:buClr>
              <a:buSzPct val="110000"/>
              <a:buFont typeface="Arial" panose="020B0604020202020204" pitchFamily="34" charset="0"/>
              <a:buChar char="•"/>
            </a:pPr>
            <a:r>
              <a:rPr lang="en-IN" dirty="0"/>
              <a:t>Banking credentials</a:t>
            </a:r>
          </a:p>
          <a:p>
            <a:pPr marL="342900" indent="-342900">
              <a:buClr>
                <a:srgbClr val="00B0F0"/>
              </a:buClr>
              <a:buSzPct val="110000"/>
              <a:buFont typeface="Arial" panose="020B0604020202020204" pitchFamily="34" charset="0"/>
              <a:buChar char="•"/>
            </a:pPr>
            <a:r>
              <a:rPr lang="en-IN" dirty="0"/>
              <a:t>Social media accounts</a:t>
            </a:r>
          </a:p>
          <a:p>
            <a:pPr marL="342900" indent="-342900">
              <a:buClr>
                <a:srgbClr val="00B0F0"/>
              </a:buClr>
              <a:buSzPct val="110000"/>
              <a:buFont typeface="Arial" panose="020B0604020202020204" pitchFamily="34" charset="0"/>
              <a:buChar char="•"/>
            </a:pPr>
            <a:r>
              <a:rPr lang="en-IN" dirty="0"/>
              <a:t>Corporate systems</a:t>
            </a:r>
          </a:p>
          <a:p>
            <a:pPr marL="342900" indent="-342900">
              <a:buClr>
                <a:srgbClr val="00B0F0"/>
              </a:buClr>
              <a:buSzPct val="110000"/>
              <a:buFont typeface="Arial" panose="020B0604020202020204" pitchFamily="34" charset="0"/>
              <a:buChar char="•"/>
            </a:pPr>
            <a:endParaRPr lang="en-IN" dirty="0"/>
          </a:p>
          <a:p>
            <a:pPr marL="342900" indent="-342900">
              <a:buClr>
                <a:srgbClr val="00B0F0"/>
              </a:buClr>
              <a:buSzPct val="110000"/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2D1348-C851-4210-3063-85E16F63F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3286826"/>
            <a:ext cx="7152640" cy="336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23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99A74-7682-F23E-14C4-8201E9F7FE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3828" y="124179"/>
            <a:ext cx="9418320" cy="1016000"/>
          </a:xfrm>
        </p:spPr>
        <p:txBody>
          <a:bodyPr>
            <a:normAutofit/>
          </a:bodyPr>
          <a:lstStyle/>
          <a:p>
            <a:r>
              <a:rPr lang="en-IN" sz="6000" dirty="0"/>
              <a:t>Types of Phishing Attacks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E76FDD-5CA0-3640-362C-842F38882F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3828" y="1253068"/>
            <a:ext cx="8462959" cy="5305776"/>
          </a:xfrm>
        </p:spPr>
        <p:txBody>
          <a:bodyPr>
            <a:normAutofit/>
          </a:bodyPr>
          <a:lstStyle/>
          <a:p>
            <a:pPr marL="342900" indent="-342900">
              <a:buClr>
                <a:srgbClr val="00206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dirty="0"/>
              <a:t>Email Phishing :- Fake emails pretending to be from legitimate organization.</a:t>
            </a:r>
          </a:p>
          <a:p>
            <a:pPr marL="342900" indent="-342900">
              <a:buClr>
                <a:srgbClr val="00206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dirty="0"/>
              <a:t>Spear Phishing :- Targeted attacks aimed at specific individuals.</a:t>
            </a:r>
          </a:p>
          <a:p>
            <a:pPr marL="342900" indent="-342900">
              <a:buClr>
                <a:srgbClr val="00206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dirty="0"/>
              <a:t>Whaling :- Attacks targeting executives or senior management.</a:t>
            </a:r>
          </a:p>
          <a:p>
            <a:pPr marL="342900" indent="-342900">
              <a:buClr>
                <a:srgbClr val="00206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dirty="0"/>
              <a:t>Smishing :- Phishing through SMS/text messages.</a:t>
            </a:r>
          </a:p>
          <a:p>
            <a:pPr marL="342900" indent="-342900">
              <a:buClr>
                <a:srgbClr val="00206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dirty="0"/>
              <a:t>Vishing :- Phishing through phone calls.</a:t>
            </a:r>
          </a:p>
          <a:p>
            <a:pPr marL="342900" indent="-342900">
              <a:buClr>
                <a:srgbClr val="00206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dirty="0"/>
              <a:t>Angler Phishing :- </a:t>
            </a:r>
            <a:r>
              <a:rPr lang="en-US" b="1" dirty="0"/>
              <a:t>It</a:t>
            </a:r>
            <a:r>
              <a:rPr lang="en-US" dirty="0"/>
              <a:t> is a new scam technique where cyber actors masquerade as customer support staff using social media platforms and accounts.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C213E0-0DE2-9737-D201-BF4E004A9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3497" y="1253068"/>
            <a:ext cx="2444310" cy="19885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A74267-C42A-D63D-F50E-8ECD1C333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3497" y="3429000"/>
            <a:ext cx="2701257" cy="284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160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275F0-53BD-27E8-DE41-9BC04203E7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4065" y="127819"/>
            <a:ext cx="9173497" cy="1543665"/>
          </a:xfrm>
        </p:spPr>
        <p:txBody>
          <a:bodyPr>
            <a:normAutofit/>
          </a:bodyPr>
          <a:lstStyle/>
          <a:p>
            <a:r>
              <a:rPr lang="en-IN" sz="5400" dirty="0"/>
              <a:t>How to Recognize Phishing Emails?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7139F9-F041-EB43-2345-248B3BF7EF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2052" y="2005780"/>
            <a:ext cx="9628140" cy="4486459"/>
          </a:xfrm>
        </p:spPr>
        <p:txBody>
          <a:bodyPr/>
          <a:lstStyle/>
          <a:p>
            <a:pPr marL="342900" indent="-342900">
              <a:buClr>
                <a:srgbClr val="00B050"/>
              </a:buClr>
              <a:buSzPct val="110000"/>
              <a:buFont typeface="Wingdings" panose="05000000000000000000" pitchFamily="2" charset="2"/>
              <a:buChar char="ü"/>
            </a:pPr>
            <a:r>
              <a:rPr lang="en-IN" dirty="0"/>
              <a:t>Suspicious sender addresses</a:t>
            </a:r>
          </a:p>
          <a:p>
            <a:pPr marL="342900" indent="-342900">
              <a:buClr>
                <a:srgbClr val="00B050"/>
              </a:buClr>
              <a:buSzPct val="110000"/>
              <a:buFont typeface="Wingdings" panose="05000000000000000000" pitchFamily="2" charset="2"/>
              <a:buChar char="ü"/>
            </a:pPr>
            <a:r>
              <a:rPr lang="en-IN" dirty="0"/>
              <a:t>Urgent or threatening language</a:t>
            </a:r>
          </a:p>
          <a:p>
            <a:pPr marL="342900" indent="-342900">
              <a:buClr>
                <a:srgbClr val="00B050"/>
              </a:buClr>
              <a:buSzPct val="110000"/>
              <a:buFont typeface="Wingdings" panose="05000000000000000000" pitchFamily="2" charset="2"/>
              <a:buChar char="ü"/>
            </a:pPr>
            <a:r>
              <a:rPr lang="en-IN" dirty="0"/>
              <a:t>Spelling and grammar mistakes</a:t>
            </a:r>
          </a:p>
          <a:p>
            <a:pPr marL="342900" indent="-342900">
              <a:buClr>
                <a:srgbClr val="00B050"/>
              </a:buClr>
              <a:buSzPct val="110000"/>
              <a:buFont typeface="Wingdings" panose="05000000000000000000" pitchFamily="2" charset="2"/>
              <a:buChar char="ü"/>
            </a:pPr>
            <a:r>
              <a:rPr lang="en-IN" dirty="0"/>
              <a:t>Unexpected attachments </a:t>
            </a:r>
          </a:p>
          <a:p>
            <a:pPr marL="342900" indent="-342900">
              <a:buClr>
                <a:srgbClr val="00B050"/>
              </a:buClr>
              <a:buSzPct val="110000"/>
              <a:buFont typeface="Wingdings" panose="05000000000000000000" pitchFamily="2" charset="2"/>
              <a:buChar char="ü"/>
            </a:pPr>
            <a:r>
              <a:rPr lang="en-IN" dirty="0"/>
              <a:t>Request for passwords or sensitive information</a:t>
            </a:r>
          </a:p>
          <a:p>
            <a:pPr marL="342900" indent="-342900">
              <a:buClr>
                <a:srgbClr val="00B050"/>
              </a:buClr>
              <a:buSzPct val="110000"/>
              <a:buFont typeface="Wingdings" panose="05000000000000000000" pitchFamily="2" charset="2"/>
              <a:buChar char="ü"/>
            </a:pPr>
            <a:r>
              <a:rPr lang="en-IN" dirty="0"/>
              <a:t>Links that don’t match the displayed website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AC6F6E-4FA0-018F-219A-58BE7E836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676" y="5216012"/>
            <a:ext cx="7059561" cy="1514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305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D2261-12BF-3C02-E1D1-C412F74C32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3897" y="235974"/>
            <a:ext cx="9736295" cy="884903"/>
          </a:xfrm>
        </p:spPr>
        <p:txBody>
          <a:bodyPr>
            <a:normAutofit/>
          </a:bodyPr>
          <a:lstStyle/>
          <a:p>
            <a:r>
              <a:rPr lang="en-IN" sz="5400" dirty="0"/>
              <a:t>Example of a Phishing Email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26A5CFF-A1B9-BA2B-FC28-4087922EE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165" y="1120877"/>
            <a:ext cx="5974551" cy="2668803"/>
          </a:xfrm>
          <a:prstGeom prst="rect">
            <a:avLst/>
          </a:prstGeom>
        </p:spPr>
      </p:pic>
      <p:sp>
        <p:nvSpPr>
          <p:cNvPr id="17" name="Subtitle 16">
            <a:extLst>
              <a:ext uri="{FF2B5EF4-FFF2-40B4-BE49-F238E27FC236}">
                <a16:creationId xmlns:a16="http://schemas.microsoft.com/office/drawing/2014/main" id="{5CD9DB3A-C58E-D257-6306-BA247BB073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3165" y="3911600"/>
            <a:ext cx="9487027" cy="2580640"/>
          </a:xfrm>
        </p:spPr>
        <p:txBody>
          <a:bodyPr/>
          <a:lstStyle/>
          <a:p>
            <a:r>
              <a:rPr lang="en-IN" dirty="0"/>
              <a:t>Red flags</a:t>
            </a:r>
          </a:p>
          <a:p>
            <a:pPr marL="342900" indent="-342900">
              <a:buClr>
                <a:srgbClr val="00B0F0"/>
              </a:buClr>
              <a:buSzPct val="90000"/>
              <a:buFont typeface="Arial" panose="020B0604020202020204" pitchFamily="34" charset="0"/>
              <a:buChar char="•"/>
            </a:pPr>
            <a:r>
              <a:rPr lang="en-IN" dirty="0"/>
              <a:t>Creates panic </a:t>
            </a:r>
          </a:p>
          <a:p>
            <a:pPr marL="342900" indent="-342900">
              <a:buClr>
                <a:srgbClr val="00B0F0"/>
              </a:buClr>
              <a:buSzPct val="90000"/>
              <a:buFont typeface="Arial" panose="020B0604020202020204" pitchFamily="34" charset="0"/>
              <a:buChar char="•"/>
            </a:pPr>
            <a:r>
              <a:rPr lang="en-IN" dirty="0"/>
              <a:t>Generic greeting </a:t>
            </a:r>
          </a:p>
          <a:p>
            <a:pPr marL="342900" indent="-342900">
              <a:buClr>
                <a:srgbClr val="00B0F0"/>
              </a:buClr>
              <a:buSzPct val="90000"/>
              <a:buFont typeface="Arial" panose="020B0604020202020204" pitchFamily="34" charset="0"/>
              <a:buChar char="•"/>
            </a:pPr>
            <a:r>
              <a:rPr lang="en-IN" dirty="0"/>
              <a:t>Suspicious URL</a:t>
            </a:r>
          </a:p>
          <a:p>
            <a:pPr marL="342900" indent="-342900">
              <a:buClr>
                <a:srgbClr val="00B0F0"/>
              </a:buClr>
              <a:buSzPct val="90000"/>
              <a:buFont typeface="Arial" panose="020B0604020202020204" pitchFamily="34" charset="0"/>
              <a:buChar char="•"/>
            </a:pPr>
            <a:r>
              <a:rPr lang="en-IN" dirty="0"/>
              <a:t>Requests immediate action</a:t>
            </a:r>
          </a:p>
        </p:txBody>
      </p:sp>
    </p:spTree>
    <p:extLst>
      <p:ext uri="{BB962C8B-B14F-4D97-AF65-F5344CB8AC3E}">
        <p14:creationId xmlns:p14="http://schemas.microsoft.com/office/powerpoint/2010/main" val="2911927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8B0DB-BFCB-D5FF-A1CA-471F543971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5360" y="200152"/>
            <a:ext cx="9704832" cy="917448"/>
          </a:xfrm>
        </p:spPr>
        <p:txBody>
          <a:bodyPr>
            <a:normAutofit/>
          </a:bodyPr>
          <a:lstStyle/>
          <a:p>
            <a:r>
              <a:rPr lang="en-IN" sz="5400" dirty="0"/>
              <a:t>How to Spot Fake Websites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D6AB74-0336-2660-A78E-D45C8FFA64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1198880"/>
            <a:ext cx="9613392" cy="5293360"/>
          </a:xfrm>
        </p:spPr>
        <p:txBody>
          <a:bodyPr/>
          <a:lstStyle/>
          <a:p>
            <a:r>
              <a:rPr lang="en-IN" dirty="0"/>
              <a:t>Check : </a:t>
            </a:r>
          </a:p>
          <a:p>
            <a:r>
              <a:rPr lang="en-US" dirty="0"/>
              <a:t>🔒 HTTPS and security certificate</a:t>
            </a:r>
          </a:p>
          <a:p>
            <a:r>
              <a:rPr lang="en-US" dirty="0"/>
              <a:t>🌐 Correct domain name</a:t>
            </a:r>
          </a:p>
          <a:p>
            <a:r>
              <a:rPr lang="en-US" dirty="0"/>
              <a:t>⚠️ Poor design or formatting</a:t>
            </a:r>
          </a:p>
          <a:p>
            <a:r>
              <a:rPr lang="en-US" dirty="0"/>
              <a:t>⚠️ Unusual pop-ups</a:t>
            </a:r>
          </a:p>
          <a:p>
            <a:r>
              <a:rPr lang="en-US" dirty="0"/>
              <a:t>⚠️ Requests for unnecessary personal information</a:t>
            </a:r>
          </a:p>
          <a:p>
            <a:r>
              <a:rPr lang="en-IN" dirty="0"/>
              <a:t>Example:</a:t>
            </a:r>
          </a:p>
          <a:p>
            <a:r>
              <a:rPr lang="en-IN" dirty="0"/>
              <a:t>Legitimate :</a:t>
            </a:r>
          </a:p>
          <a:p>
            <a:r>
              <a:rPr lang="en-IN" dirty="0"/>
              <a:t> </a:t>
            </a:r>
          </a:p>
          <a:p>
            <a:r>
              <a:rPr lang="en-IN" dirty="0"/>
              <a:t>Fake 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BDEA19-9240-D062-7498-12E22F560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5527" y="4734560"/>
            <a:ext cx="6281513" cy="6502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6CC64D-63C7-26D3-4865-1117F6609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8721" y="5810178"/>
            <a:ext cx="4711390" cy="65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642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256E4-BA27-34AE-C89C-0A70B1F8B9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6000" y="200152"/>
            <a:ext cx="9532112" cy="947928"/>
          </a:xfrm>
        </p:spPr>
        <p:txBody>
          <a:bodyPr>
            <a:normAutofit/>
          </a:bodyPr>
          <a:lstStyle/>
          <a:p>
            <a:r>
              <a:rPr lang="en-IN" sz="5400" dirty="0"/>
              <a:t>Social Engineering Tactics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D559E3-8EE7-B39D-931F-90D2A69DB9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7600" y="1148080"/>
            <a:ext cx="9328912" cy="5262880"/>
          </a:xfrm>
        </p:spPr>
        <p:txBody>
          <a:bodyPr>
            <a:normAutofit lnSpcReduction="10000"/>
          </a:bodyPr>
          <a:lstStyle/>
          <a:p>
            <a:r>
              <a:rPr lang="en-IN" dirty="0"/>
              <a:t>Attackers often exploit human psychology through: </a:t>
            </a:r>
          </a:p>
          <a:p>
            <a:pPr marL="342900" indent="-342900">
              <a:buClr>
                <a:srgbClr val="00B0F0"/>
              </a:buClr>
              <a:buSzPct val="90000"/>
              <a:buFont typeface="Arial" panose="020B0604020202020204" pitchFamily="34" charset="0"/>
              <a:buChar char="•"/>
            </a:pPr>
            <a:r>
              <a:rPr lang="en-IN" dirty="0"/>
              <a:t>Fear</a:t>
            </a:r>
          </a:p>
          <a:p>
            <a:pPr marL="342900" indent="-342900">
              <a:buClr>
                <a:srgbClr val="00B0F0"/>
              </a:buClr>
              <a:buSzPct val="90000"/>
              <a:buFont typeface="Arial" panose="020B0604020202020204" pitchFamily="34" charset="0"/>
              <a:buChar char="•"/>
            </a:pPr>
            <a:r>
              <a:rPr lang="en-IN" dirty="0"/>
              <a:t>Urgency </a:t>
            </a:r>
          </a:p>
          <a:p>
            <a:pPr marL="342900" indent="-342900">
              <a:buClr>
                <a:srgbClr val="00B0F0"/>
              </a:buClr>
              <a:buSzPct val="90000"/>
              <a:buFont typeface="Arial" panose="020B0604020202020204" pitchFamily="34" charset="0"/>
              <a:buChar char="•"/>
            </a:pPr>
            <a:r>
              <a:rPr lang="en-IN" dirty="0"/>
              <a:t>Curiosity </a:t>
            </a:r>
          </a:p>
          <a:p>
            <a:pPr marL="342900" indent="-342900">
              <a:buClr>
                <a:srgbClr val="00B0F0"/>
              </a:buClr>
              <a:buSzPct val="90000"/>
              <a:buFont typeface="Arial" panose="020B0604020202020204" pitchFamily="34" charset="0"/>
              <a:buChar char="•"/>
            </a:pPr>
            <a:r>
              <a:rPr lang="en-IN" dirty="0"/>
              <a:t>Trust </a:t>
            </a:r>
          </a:p>
          <a:p>
            <a:pPr marL="342900" indent="-342900">
              <a:buClr>
                <a:srgbClr val="00B0F0"/>
              </a:buClr>
              <a:buSzPct val="90000"/>
              <a:buFont typeface="Arial" panose="020B0604020202020204" pitchFamily="34" charset="0"/>
              <a:buChar char="•"/>
            </a:pPr>
            <a:r>
              <a:rPr lang="en-IN" dirty="0"/>
              <a:t>Authority</a:t>
            </a:r>
          </a:p>
          <a:p>
            <a:pPr>
              <a:buClr>
                <a:srgbClr val="00B0F0"/>
              </a:buClr>
              <a:buSzPct val="90000"/>
            </a:pPr>
            <a:r>
              <a:rPr lang="en-IN" dirty="0"/>
              <a:t>Examples :</a:t>
            </a:r>
          </a:p>
          <a:p>
            <a:pPr marL="342900" indent="-342900">
              <a:buClr>
                <a:srgbClr val="00B0F0"/>
              </a:buClr>
              <a:buSzPct val="90000"/>
              <a:buFont typeface="Arial" panose="020B0604020202020204" pitchFamily="34" charset="0"/>
              <a:buChar char="•"/>
            </a:pPr>
            <a:r>
              <a:rPr lang="en-IN" dirty="0"/>
              <a:t>“ Your account is locked .”</a:t>
            </a:r>
          </a:p>
          <a:p>
            <a:pPr marL="342900" indent="-342900">
              <a:buClr>
                <a:srgbClr val="00B0F0"/>
              </a:buClr>
              <a:buSzPct val="90000"/>
              <a:buFont typeface="Arial" panose="020B0604020202020204" pitchFamily="34" charset="0"/>
              <a:buChar char="•"/>
            </a:pPr>
            <a:r>
              <a:rPr lang="en-IN" dirty="0"/>
              <a:t>“ You’ve won a prize.”</a:t>
            </a:r>
          </a:p>
          <a:p>
            <a:pPr marL="342900" indent="-342900">
              <a:buClr>
                <a:srgbClr val="00B0F0"/>
              </a:buClr>
              <a:buSzPct val="90000"/>
              <a:buFont typeface="Arial" panose="020B0604020202020204" pitchFamily="34" charset="0"/>
              <a:buChar char="•"/>
            </a:pPr>
            <a:r>
              <a:rPr lang="en-IN" dirty="0"/>
              <a:t>“CEO requests immediate payment.”</a:t>
            </a:r>
          </a:p>
          <a:p>
            <a:pPr marL="342900" indent="-342900">
              <a:buClr>
                <a:srgbClr val="00B0F0"/>
              </a:buClr>
              <a:buSzPct val="90000"/>
              <a:buFont typeface="Arial" panose="020B0604020202020204" pitchFamily="34" charset="0"/>
              <a:buChar char="•"/>
            </a:pPr>
            <a:r>
              <a:rPr lang="en-IN" dirty="0"/>
              <a:t>“ Security verification required.”</a:t>
            </a:r>
          </a:p>
        </p:txBody>
      </p:sp>
    </p:spTree>
    <p:extLst>
      <p:ext uri="{BB962C8B-B14F-4D97-AF65-F5344CB8AC3E}">
        <p14:creationId xmlns:p14="http://schemas.microsoft.com/office/powerpoint/2010/main" val="4013295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D223919-B28D-B2EF-ADB7-EFD5AF8C79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9792" y="101600"/>
            <a:ext cx="9418320" cy="934720"/>
          </a:xfrm>
        </p:spPr>
        <p:txBody>
          <a:bodyPr>
            <a:normAutofit fontScale="90000"/>
          </a:bodyPr>
          <a:lstStyle/>
          <a:p>
            <a:r>
              <a:rPr lang="en-IN" dirty="0"/>
              <a:t>Real- World Example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4C285A5-7A86-59A8-5E82-0F6337FEC6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9792" y="1127760"/>
            <a:ext cx="9550400" cy="6075680"/>
          </a:xfrm>
        </p:spPr>
        <p:txBody>
          <a:bodyPr/>
          <a:lstStyle/>
          <a:p>
            <a:r>
              <a:rPr lang="en-IN" sz="4000" dirty="0"/>
              <a:t>Example 1 :-</a:t>
            </a:r>
          </a:p>
          <a:p>
            <a:r>
              <a:rPr lang="en-IN" dirty="0"/>
              <a:t>Fake delivery notification payment for package release.</a:t>
            </a:r>
          </a:p>
          <a:p>
            <a:endParaRPr lang="en-IN" dirty="0"/>
          </a:p>
          <a:p>
            <a:r>
              <a:rPr lang="en-IN" sz="4000" dirty="0"/>
              <a:t>Example 2 :-</a:t>
            </a:r>
          </a:p>
          <a:p>
            <a:r>
              <a:rPr lang="en-IN" dirty="0"/>
              <a:t>Emails pretending to be form IT support asking users to reset passwords.</a:t>
            </a:r>
          </a:p>
          <a:p>
            <a:endParaRPr lang="en-IN" dirty="0"/>
          </a:p>
          <a:p>
            <a:r>
              <a:rPr lang="en-IN" sz="4000" dirty="0"/>
              <a:t>Example 3 :-</a:t>
            </a:r>
          </a:p>
          <a:p>
            <a:r>
              <a:rPr lang="en-IN" dirty="0"/>
              <a:t>Fake banking alerts requesting login verification.</a:t>
            </a:r>
          </a:p>
        </p:txBody>
      </p:sp>
    </p:spTree>
    <p:extLst>
      <p:ext uri="{BB962C8B-B14F-4D97-AF65-F5344CB8AC3E}">
        <p14:creationId xmlns:p14="http://schemas.microsoft.com/office/powerpoint/2010/main" val="257446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9309B-3485-3E7D-9C71-EB9F35EE21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15240"/>
            <a:ext cx="9582912" cy="1071880"/>
          </a:xfrm>
        </p:spPr>
        <p:txBody>
          <a:bodyPr>
            <a:normAutofit/>
          </a:bodyPr>
          <a:lstStyle/>
          <a:p>
            <a:r>
              <a:rPr lang="en-IN" sz="6000" dirty="0"/>
              <a:t>Best Practices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7C8C55-2254-7F82-D27B-02BC7551E9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9576" y="1224280"/>
            <a:ext cx="9418320" cy="5450840"/>
          </a:xfrm>
        </p:spPr>
        <p:txBody>
          <a:bodyPr>
            <a:normAutofit fontScale="92500" lnSpcReduction="10000"/>
          </a:bodyPr>
          <a:lstStyle/>
          <a:p>
            <a:r>
              <a:rPr lang="en-IN" sz="4000" dirty="0"/>
              <a:t>Do :</a:t>
            </a:r>
          </a:p>
          <a:p>
            <a:r>
              <a:rPr lang="en-IN" dirty="0"/>
              <a:t>✅ Verify sender identity</a:t>
            </a:r>
          </a:p>
          <a:p>
            <a:r>
              <a:rPr lang="en-IN" dirty="0"/>
              <a:t>✅ Hover over links before clicking</a:t>
            </a:r>
          </a:p>
          <a:p>
            <a:r>
              <a:rPr lang="en-IN" dirty="0"/>
              <a:t>✅ Use multi-factor authentication (MFA)</a:t>
            </a:r>
          </a:p>
          <a:p>
            <a:r>
              <a:rPr lang="en-IN" dirty="0"/>
              <a:t>✅ Keep software updated</a:t>
            </a:r>
          </a:p>
          <a:p>
            <a:r>
              <a:rPr lang="en-IN" dirty="0"/>
              <a:t>✅ Report suspicious messages</a:t>
            </a:r>
          </a:p>
          <a:p>
            <a:r>
              <a:rPr lang="en-IN" sz="4000" dirty="0"/>
              <a:t>Don’t :</a:t>
            </a:r>
          </a:p>
          <a:p>
            <a:r>
              <a:rPr lang="en-IN" dirty="0"/>
              <a:t>❌ Share passwords via email</a:t>
            </a:r>
          </a:p>
          <a:p>
            <a:r>
              <a:rPr lang="en-IN" dirty="0"/>
              <a:t>❌ Open unexpected attachments</a:t>
            </a:r>
          </a:p>
          <a:p>
            <a:r>
              <a:rPr lang="en-IN" dirty="0"/>
              <a:t>❌ Click suspicious links</a:t>
            </a:r>
          </a:p>
          <a:p>
            <a:r>
              <a:rPr lang="en-IN" dirty="0"/>
              <a:t>❌ Trust urgent requests without verification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6505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1BAE7-9786-0585-A913-B52389E15B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3028" y="111760"/>
            <a:ext cx="9728708" cy="812800"/>
          </a:xfrm>
        </p:spPr>
        <p:txBody>
          <a:bodyPr>
            <a:normAutofit/>
          </a:bodyPr>
          <a:lstStyle/>
          <a:p>
            <a:r>
              <a:rPr lang="en-IN" sz="4000" dirty="0"/>
              <a:t>What to do If you Suspect Phishing?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C5D8D8-AF29-B0BE-1DF8-6A96AC074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3028" y="1132840"/>
            <a:ext cx="9418320" cy="5207000"/>
          </a:xfrm>
        </p:spPr>
        <p:txBody>
          <a:bodyPr>
            <a:normAutofit/>
          </a:bodyPr>
          <a:lstStyle/>
          <a:p>
            <a:pPr marL="342900" indent="-342900">
              <a:buClr>
                <a:srgbClr val="00B0F0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dirty="0"/>
              <a:t>Do not click links.</a:t>
            </a:r>
          </a:p>
          <a:p>
            <a:pPr marL="342900" indent="-342900">
              <a:buClr>
                <a:srgbClr val="00B0F0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dirty="0"/>
              <a:t>Do not open attachments.</a:t>
            </a:r>
          </a:p>
          <a:p>
            <a:pPr marL="342900" indent="-342900">
              <a:buClr>
                <a:srgbClr val="00B0F0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dirty="0"/>
              <a:t>Report the message to IT/security. </a:t>
            </a:r>
          </a:p>
          <a:p>
            <a:pPr marL="342900" indent="-342900">
              <a:buClr>
                <a:srgbClr val="00B0F0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dirty="0"/>
              <a:t>Delete the message. </a:t>
            </a:r>
          </a:p>
          <a:p>
            <a:pPr marL="342900" indent="-342900">
              <a:buClr>
                <a:srgbClr val="00B0F0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dirty="0"/>
              <a:t>Change passwords if credentials were entered. </a:t>
            </a:r>
          </a:p>
          <a:p>
            <a:pPr marL="342900" indent="-342900">
              <a:buClr>
                <a:srgbClr val="00B0F0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dirty="0"/>
              <a:t>Enable MFA if not already enabled. </a:t>
            </a:r>
          </a:p>
          <a:p>
            <a:pPr>
              <a:buClr>
                <a:srgbClr val="00B0F0"/>
              </a:buClr>
              <a:buSzPct val="90000"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A446D9-EF08-3AE3-2992-A772981D4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542" y="4236720"/>
            <a:ext cx="8361680" cy="2392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047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BC568-76FF-D386-FE20-5EA39AD8BB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8832" y="121920"/>
            <a:ext cx="9418320" cy="792480"/>
          </a:xfrm>
        </p:spPr>
        <p:txBody>
          <a:bodyPr>
            <a:normAutofit fontScale="90000"/>
          </a:bodyPr>
          <a:lstStyle/>
          <a:p>
            <a:r>
              <a:rPr lang="en-IN" dirty="0"/>
              <a:t>Interactive Quiz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25530B-B8CE-9E1C-9070-2941B0CE18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8880" y="914400"/>
            <a:ext cx="9606280" cy="572008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Question 1</a:t>
            </a:r>
          </a:p>
          <a:p>
            <a:r>
              <a:rPr lang="en-US" dirty="0"/>
              <a:t>Which of the following is a common sign of phishing?</a:t>
            </a:r>
          </a:p>
          <a:p>
            <a:r>
              <a:rPr lang="en-US" dirty="0"/>
              <a:t>A. Personalized communication</a:t>
            </a:r>
            <a:br>
              <a:rPr lang="en-US" dirty="0"/>
            </a:br>
            <a:r>
              <a:rPr lang="en-US" dirty="0"/>
              <a:t>B. Requests for sensitive information</a:t>
            </a:r>
            <a:br>
              <a:rPr lang="en-US" dirty="0"/>
            </a:br>
            <a:r>
              <a:rPr lang="en-US" dirty="0"/>
              <a:t>C. Official company logo</a:t>
            </a:r>
            <a:br>
              <a:rPr lang="en-US" dirty="0"/>
            </a:br>
            <a:r>
              <a:rPr lang="en-US" dirty="0"/>
              <a:t>D. Proper grammar</a:t>
            </a:r>
          </a:p>
          <a:p>
            <a:r>
              <a:rPr lang="en-US" b="1" dirty="0"/>
              <a:t>Answer:</a:t>
            </a:r>
            <a:r>
              <a:rPr lang="en-US" dirty="0"/>
              <a:t> B</a:t>
            </a:r>
          </a:p>
          <a:p>
            <a:endParaRPr lang="en-US" dirty="0"/>
          </a:p>
          <a:p>
            <a:r>
              <a:rPr lang="en-US" b="1" dirty="0"/>
              <a:t>Question 2</a:t>
            </a:r>
          </a:p>
          <a:p>
            <a:r>
              <a:rPr lang="en-US" dirty="0"/>
              <a:t>What should you do before clicking a link?</a:t>
            </a:r>
          </a:p>
          <a:p>
            <a:r>
              <a:rPr lang="en-US" dirty="0"/>
              <a:t>A. Open it immediately</a:t>
            </a:r>
            <a:br>
              <a:rPr lang="en-US" dirty="0"/>
            </a:br>
            <a:r>
              <a:rPr lang="en-US" dirty="0"/>
              <a:t>B. Forward it to friends</a:t>
            </a:r>
            <a:br>
              <a:rPr lang="en-US" dirty="0"/>
            </a:br>
            <a:r>
              <a:rPr lang="en-US" dirty="0"/>
              <a:t>C. Hover over it and verify the URL</a:t>
            </a:r>
            <a:br>
              <a:rPr lang="en-US" dirty="0"/>
            </a:br>
            <a:r>
              <a:rPr lang="en-US" dirty="0"/>
              <a:t>D. Disable antivirus</a:t>
            </a:r>
          </a:p>
          <a:p>
            <a:r>
              <a:rPr lang="en-US" b="1" dirty="0"/>
              <a:t>Answer:</a:t>
            </a:r>
            <a:r>
              <a:rPr lang="en-US" dirty="0"/>
              <a:t> C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78290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916B8-7F17-4FC2-07C5-FAE8E6E218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8848" y="203200"/>
            <a:ext cx="9857232" cy="508000"/>
          </a:xfrm>
        </p:spPr>
        <p:txBody>
          <a:bodyPr>
            <a:normAutofit/>
          </a:bodyPr>
          <a:lstStyle/>
          <a:p>
            <a:r>
              <a:rPr lang="en-IN" sz="2200" dirty="0"/>
              <a:t>Question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BCD1D6-F064-87EE-305B-E9D4CEE6F3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2320" y="822960"/>
            <a:ext cx="9763760" cy="5659120"/>
          </a:xfrm>
        </p:spPr>
        <p:txBody>
          <a:bodyPr/>
          <a:lstStyle/>
          <a:p>
            <a:r>
              <a:rPr lang="en-US" dirty="0"/>
              <a:t>Which tactic is commonly used in phishing?</a:t>
            </a:r>
          </a:p>
          <a:p>
            <a:r>
              <a:rPr lang="en-US" dirty="0"/>
              <a:t>A. Patience</a:t>
            </a:r>
            <a:br>
              <a:rPr lang="en-US" dirty="0"/>
            </a:br>
            <a:r>
              <a:rPr lang="en-US" dirty="0"/>
              <a:t>B. Transparency</a:t>
            </a:r>
            <a:br>
              <a:rPr lang="en-US" dirty="0"/>
            </a:br>
            <a:r>
              <a:rPr lang="en-US" dirty="0"/>
              <a:t>C. Urgency and fear</a:t>
            </a:r>
            <a:br>
              <a:rPr lang="en-US" dirty="0"/>
            </a:br>
            <a:r>
              <a:rPr lang="en-US" dirty="0"/>
              <a:t>D. Technical support</a:t>
            </a:r>
          </a:p>
          <a:p>
            <a:r>
              <a:rPr lang="en-US" b="1" dirty="0"/>
              <a:t>Answer:</a:t>
            </a:r>
            <a:r>
              <a:rPr lang="en-US" dirty="0"/>
              <a:t> C</a:t>
            </a:r>
          </a:p>
          <a:p>
            <a:r>
              <a:rPr lang="en-US" b="1" dirty="0"/>
              <a:t>Question 4</a:t>
            </a:r>
          </a:p>
          <a:p>
            <a:r>
              <a:rPr lang="en-US" dirty="0"/>
              <a:t>What is MFA?</a:t>
            </a:r>
          </a:p>
          <a:p>
            <a:r>
              <a:rPr lang="en-US" dirty="0"/>
              <a:t>A. Multi-Factor Authentication</a:t>
            </a:r>
            <a:br>
              <a:rPr lang="en-US" dirty="0"/>
            </a:br>
            <a:r>
              <a:rPr lang="en-US" dirty="0"/>
              <a:t>B. Mobile File Access</a:t>
            </a:r>
            <a:br>
              <a:rPr lang="en-US" dirty="0"/>
            </a:br>
            <a:r>
              <a:rPr lang="en-US" dirty="0"/>
              <a:t>C. Managed Firewall Access</a:t>
            </a:r>
            <a:br>
              <a:rPr lang="en-US" dirty="0"/>
            </a:br>
            <a:r>
              <a:rPr lang="en-US" dirty="0"/>
              <a:t>D. Mail Filtering Application</a:t>
            </a:r>
          </a:p>
          <a:p>
            <a:r>
              <a:rPr lang="en-US" b="1" dirty="0"/>
              <a:t>Answer:</a:t>
            </a:r>
            <a:r>
              <a:rPr lang="en-US" dirty="0"/>
              <a:t> 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82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ED3E2-D757-28FE-44E0-78908125FF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5520" y="243840"/>
            <a:ext cx="9694672" cy="812800"/>
          </a:xfrm>
        </p:spPr>
        <p:txBody>
          <a:bodyPr>
            <a:normAutofit/>
          </a:bodyPr>
          <a:lstStyle/>
          <a:p>
            <a:r>
              <a:rPr lang="en-IN" sz="5000" dirty="0"/>
              <a:t>Key Takeaways 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AF076A-9F45-4E0C-3E5B-CF1C27195F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5520" y="1219200"/>
            <a:ext cx="9694672" cy="5273040"/>
          </a:xfrm>
        </p:spPr>
        <p:txBody>
          <a:bodyPr/>
          <a:lstStyle/>
          <a:p>
            <a:pPr marL="342900" indent="-342900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dirty="0"/>
              <a:t>Think before you click. </a:t>
            </a:r>
          </a:p>
          <a:p>
            <a:pPr marL="342900" indent="-342900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dirty="0"/>
              <a:t>Verify requests for sensitive information. </a:t>
            </a:r>
          </a:p>
          <a:p>
            <a:pPr marL="342900" indent="-342900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dirty="0"/>
              <a:t>Be cautious of urgency and pressure. </a:t>
            </a:r>
          </a:p>
          <a:p>
            <a:pPr marL="342900" indent="-342900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dirty="0"/>
              <a:t>Use strong passwords and MFA. </a:t>
            </a:r>
          </a:p>
          <a:p>
            <a:pPr marL="342900" indent="-342900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/>
              <a:t>Report suspicious communications immediately. </a:t>
            </a:r>
          </a:p>
          <a:p>
            <a:pPr>
              <a:buClr>
                <a:srgbClr val="0070C0"/>
              </a:buClr>
            </a:pPr>
            <a:r>
              <a:rPr lang="en-US" b="1"/>
              <a:t>Remember:</a:t>
            </a:r>
            <a:r>
              <a:rPr lang="en-US"/>
              <a:t> If something feels suspicious, verify it through a trusted channel before taking action.</a:t>
            </a:r>
          </a:p>
        </p:txBody>
      </p:sp>
    </p:spTree>
    <p:extLst>
      <p:ext uri="{BB962C8B-B14F-4D97-AF65-F5344CB8AC3E}">
        <p14:creationId xmlns:p14="http://schemas.microsoft.com/office/powerpoint/2010/main" val="3054785370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667</TotalTime>
  <Words>609</Words>
  <Application>Microsoft Office PowerPoint</Application>
  <PresentationFormat>Widescreen</PresentationFormat>
  <Paragraphs>119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Century Schoolbook</vt:lpstr>
      <vt:lpstr>Wingdings</vt:lpstr>
      <vt:lpstr>Wingdings 2</vt:lpstr>
      <vt:lpstr>View</vt:lpstr>
      <vt:lpstr>PRESENTED BY :- VAIBHAV KUMAR JHA</vt:lpstr>
      <vt:lpstr>PHISHING AWARENESS TRAINING</vt:lpstr>
      <vt:lpstr>What is Phishing?</vt:lpstr>
      <vt:lpstr>Types of Phishing Attacks</vt:lpstr>
      <vt:lpstr>How to Recognize Phishing Emails?</vt:lpstr>
      <vt:lpstr>Example of a Phishing Email</vt:lpstr>
      <vt:lpstr>How to Spot Fake Websites</vt:lpstr>
      <vt:lpstr>Social Engineering Tactics</vt:lpstr>
      <vt:lpstr>Real- World Example</vt:lpstr>
      <vt:lpstr>Best Practices</vt:lpstr>
      <vt:lpstr>What to do If you Suspect Phishing?</vt:lpstr>
      <vt:lpstr>Interactive Quiz</vt:lpstr>
      <vt:lpstr>Question 3</vt:lpstr>
      <vt:lpstr>Key Takeaways 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Vaibhav Kumar Jha</dc:creator>
  <cp:lastModifiedBy>Vaibhav Kumar Jha</cp:lastModifiedBy>
  <cp:revision>2</cp:revision>
  <dcterms:created xsi:type="dcterms:W3CDTF">2026-06-01T04:15:48Z</dcterms:created>
  <dcterms:modified xsi:type="dcterms:W3CDTF">2026-06-02T10:33:52Z</dcterms:modified>
</cp:coreProperties>
</file>